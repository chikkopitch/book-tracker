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Book Tracker</a:t>
            </a:r>
          </a:p>
          <a:p>
            <a:r>
              <a:rPr sz="1300" b="0">
                <a:solidFill>
                  <a:srgbClr val="6B7280"/>
                </a:solidFill>
                <a:latin typeface="Arial"/>
              </a:rPr>
              <a:t>Самостоятельная работа по Flask: мини-проект от идеи до прототипа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530352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15E59"/>
                </a:solidFill>
                <a:latin typeface="Arial"/>
              </a:defRPr>
            </a:pPr>
            <a:r>
              <a:t>Идея: личный трекер книг</a:t>
            </a:r>
          </a:p>
          <a:p>
            <a:pPr>
              <a:defRPr sz="1500" b="0">
                <a:solidFill>
                  <a:srgbClr val="1F2937"/>
                </a:solidFill>
                <a:latin typeface="Arial"/>
              </a:defRPr>
            </a:pPr>
            <a:r>
              <a:t>Проблема: список книг и статусов чтения теряется в заметках.</a:t>
            </a:r>
          </a:p>
          <a:p>
            <a:pPr>
              <a:defRPr sz="1500" b="0">
                <a:solidFill>
                  <a:srgbClr val="1F2937"/>
                </a:solidFill>
                <a:latin typeface="Arial"/>
              </a:defRPr>
            </a:pPr>
            <a:r>
              <a:t>Решение: единое веб-приложение для учета книг, статусов и заметок.</a:t>
            </a:r>
          </a:p>
          <a:p>
            <a:pPr>
              <a:defRPr sz="1500" b="0">
                <a:solidFill>
                  <a:srgbClr val="1F2937"/>
                </a:solidFill>
                <a:latin typeface="Arial"/>
              </a:defRPr>
            </a:pPr>
            <a:r>
              <a:t>Функции: добавление, редактирование, удаление, поиск, фильтр.</a:t>
            </a:r>
          </a:p>
          <a:p>
            <a:pPr>
              <a:defRPr sz="1500" b="0">
                <a:solidFill>
                  <a:srgbClr val="1F2937"/>
                </a:solidFill>
                <a:latin typeface="Arial"/>
              </a:defRPr>
            </a:pPr>
            <a:r>
              <a:t>Технологии: Flask, SQLite, HTML/CSS, pytest.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71600"/>
            <a:ext cx="512064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15E59"/>
                </a:solidFill>
                <a:latin typeface="Arial"/>
              </a:defRPr>
            </a:pPr>
            <a:r>
              <a:t>Цель проекта</a:t>
            </a:r>
          </a:p>
          <a:p>
            <a:pPr>
              <a:defRPr sz="1700" b="0">
                <a:solidFill>
                  <a:srgbClr val="1F2937"/>
                </a:solidFill>
                <a:latin typeface="Arial"/>
              </a:defRPr>
            </a:pPr>
            <a:r>
              <a:t>Показать полный цикл разработки: требования, архитектура, реализация, тесты и документация.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Интерфейс</a:t>
            </a:r>
          </a:p>
          <a:p>
            <a:r>
              <a:rPr sz="1300" b="0">
                <a:solidFill>
                  <a:srgbClr val="6B7280"/>
                </a:solidFill>
                <a:latin typeface="Arial"/>
              </a:rPr>
              <a:t>Главная страница с поиском, фильтром и списком книг</a:t>
            </a:r>
          </a:p>
        </p:txBody>
      </p:sp>
      <p:pic>
        <p:nvPicPr>
          <p:cNvPr id="3" name="Picture 2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62236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Архитектура</a:t>
            </a:r>
          </a:p>
          <a:p>
            <a:r>
              <a:rPr sz="1300" b="0">
                <a:solidFill>
                  <a:srgbClr val="6B7280"/>
                </a:solidFill>
                <a:latin typeface="Arial"/>
              </a:rPr>
              <a:t>Браузер -&gt; Flask -&gt; SQLite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26517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15E59"/>
                </a:solidFill>
                <a:latin typeface="Arial"/>
              </a:defRPr>
            </a:pPr>
            <a:r>
              <a:t>Браузер</a:t>
            </a:r>
          </a:p>
          <a:p>
            <a:pPr algn="ctr">
              <a:defRPr sz="1100" b="0">
                <a:solidFill>
                  <a:srgbClr val="1F2937"/>
                </a:solidFill>
                <a:latin typeface="Arial"/>
              </a:defRPr>
            </a:pPr>
            <a:r>
              <a:t>HTML-страницы и формы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737360"/>
            <a:ext cx="26517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15E59"/>
                </a:solidFill>
                <a:latin typeface="Arial"/>
              </a:defRPr>
            </a:pPr>
            <a:r>
              <a:t>Flask</a:t>
            </a:r>
          </a:p>
          <a:p>
            <a:pPr algn="ctr">
              <a:defRPr sz="1100" b="0">
                <a:solidFill>
                  <a:srgbClr val="1F2937"/>
                </a:solidFill>
                <a:latin typeface="Arial"/>
              </a:defRPr>
            </a:pPr>
            <a:r>
              <a:t>Маршруты и обработка запросов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737360"/>
            <a:ext cx="26517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15E59"/>
                </a:solidFill>
                <a:latin typeface="Arial"/>
              </a:defRPr>
            </a:pPr>
            <a:r>
              <a:t>Сервисы</a:t>
            </a:r>
          </a:p>
          <a:p>
            <a:pPr algn="ctr">
              <a:defRPr sz="1100" b="0">
                <a:solidFill>
                  <a:srgbClr val="1F2937"/>
                </a:solidFill>
                <a:latin typeface="Arial"/>
              </a:defRPr>
            </a:pPr>
            <a:r>
              <a:t>Валидация и CRUD-операции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1737360"/>
            <a:ext cx="173736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15E59"/>
                </a:solidFill>
                <a:latin typeface="Arial"/>
              </a:defRPr>
            </a:pPr>
            <a:r>
              <a:t>SQLite</a:t>
            </a:r>
          </a:p>
          <a:p>
            <a:pPr algn="ctr">
              <a:defRPr sz="1100" b="0">
                <a:solidFill>
                  <a:srgbClr val="1F2937"/>
                </a:solidFill>
                <a:latin typeface="Arial"/>
              </a:defRPr>
            </a:pPr>
            <a:r>
              <a:t>Хранилище</a:t>
            </a:r>
          </a:p>
        </p:txBody>
      </p:sp>
      <p:sp>
        <p:nvSpPr>
          <p:cNvPr id="7" name="Chevron 6"/>
          <p:cNvSpPr/>
          <p:nvPr/>
        </p:nvSpPr>
        <p:spPr>
          <a:xfrm>
            <a:off x="3246120" y="2057400"/>
            <a:ext cx="411480" cy="365760"/>
          </a:xfrm>
          <a:prstGeom prst="chevron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vron 7"/>
          <p:cNvSpPr/>
          <p:nvPr/>
        </p:nvSpPr>
        <p:spPr>
          <a:xfrm>
            <a:off x="6446520" y="2057400"/>
            <a:ext cx="411480" cy="365760"/>
          </a:xfrm>
          <a:prstGeom prst="chevron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/>
          <p:cNvSpPr/>
          <p:nvPr/>
        </p:nvSpPr>
        <p:spPr>
          <a:xfrm>
            <a:off x="9646920" y="2057400"/>
            <a:ext cx="411480" cy="365760"/>
          </a:xfrm>
          <a:prstGeom prst="chevron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106424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15E59"/>
                </a:solidFill>
                <a:latin typeface="Arial"/>
              </a:defRPr>
            </a:pPr>
            <a:r>
              <a:t>Маршруты</a:t>
            </a:r>
          </a:p>
          <a:p>
            <a:pPr>
              <a:defRPr sz="1200" b="0">
                <a:solidFill>
                  <a:srgbClr val="1F2937"/>
                </a:solidFill>
                <a:latin typeface="Arial"/>
              </a:defRPr>
            </a:pPr>
            <a:r>
              <a:t>/ - список и поиск</a:t>
            </a:r>
          </a:p>
          <a:p>
            <a:pPr>
              <a:defRPr sz="1200" b="0">
                <a:solidFill>
                  <a:srgbClr val="1F2937"/>
                </a:solidFill>
                <a:latin typeface="Arial"/>
              </a:defRPr>
            </a:pPr>
            <a:r>
              <a:t>/books/new - добавление</a:t>
            </a:r>
          </a:p>
          <a:p>
            <a:pPr>
              <a:defRPr sz="1200" b="0">
                <a:solidFill>
                  <a:srgbClr val="1F2937"/>
                </a:solidFill>
                <a:latin typeface="Arial"/>
              </a:defRPr>
            </a:pPr>
            <a:r>
              <a:t>/books/&lt;id&gt; - карточка</a:t>
            </a:r>
          </a:p>
          <a:p>
            <a:pPr>
              <a:defRPr sz="1200" b="0">
                <a:solidFill>
                  <a:srgbClr val="1F2937"/>
                </a:solidFill>
                <a:latin typeface="Arial"/>
              </a:defRPr>
            </a:pPr>
            <a:r>
              <a:t>/books/&lt;id&gt;/edit - редактирование</a:t>
            </a:r>
          </a:p>
          <a:p>
            <a:pPr>
              <a:defRPr sz="1200" b="0">
                <a:solidFill>
                  <a:srgbClr val="1F2937"/>
                </a:solidFill>
                <a:latin typeface="Arial"/>
              </a:defRPr>
            </a:pPr>
            <a:r>
              <a:t>/books/&lt;id&gt;/delete - удаление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Код</a:t>
            </a:r>
          </a:p>
          <a:p>
            <a:r>
              <a:rPr sz="1300" b="0">
                <a:solidFill>
                  <a:srgbClr val="6B7280"/>
                </a:solidFill>
                <a:latin typeface="Arial"/>
              </a:rPr>
              <a:t>Валидация формы и поиск по списку книг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67665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15E59"/>
                </a:solidFill>
                <a:latin typeface="Arial"/>
              </a:defRPr>
            </a:pPr>
            <a:r>
              <a:t>Фрагмент кода</a:t>
            </a:r>
          </a:p>
          <a:p>
            <a:pPr>
              <a:defRPr sz="1400" b="0">
                <a:solidFill>
                  <a:srgbClr val="1F2937"/>
                </a:solidFill>
                <a:latin typeface="Consolas"/>
              </a:defRPr>
            </a:pPr>
            <a:r>
              <a:t>def validate_book_form(form):</a:t>
            </a:r>
            <a:br/>
            <a:r>
              <a:t>    title = form.get("title", "").strip()</a:t>
            </a:r>
            <a:br/>
            <a:r>
              <a:t>    pages = int(form.get("pages", "0"))</a:t>
            </a:r>
            <a:br/>
            <a:r>
              <a:t>    if not title:</a:t>
            </a:r>
            <a:br/>
            <a:r>
              <a:t>        errors.append("Поле Название обязательно.")</a:t>
            </a:r>
            <a:br/>
            <a:br/>
            <a:r>
              <a:t>def list_books(query="", status=""):</a:t>
            </a:r>
            <a:br/>
            <a:r>
              <a:t>    sql = "SELECT * FROM books WHERE 1=1"</a:t>
            </a:r>
            <a:br/>
            <a:r>
              <a:t>    if query:</a:t>
            </a:r>
            <a:br/>
            <a:r>
              <a:t>        sql += " AND (LOWER(title) LIKE ? OR LOWER(author) LIKE ?)"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63840" y="1371600"/>
            <a:ext cx="34747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15E59"/>
                </a:solidFill>
                <a:latin typeface="Arial"/>
              </a:defRPr>
            </a:pPr>
            <a:r>
              <a:t>Что показывает код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проверки обязательных полей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защиту от пустых значений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SQL-поиск по названию и автору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простую структуру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Результат</a:t>
            </a:r>
          </a:p>
          <a:p>
            <a:r>
              <a:rPr sz="1300" b="0">
                <a:solidFill>
                  <a:srgbClr val="6B7280"/>
                </a:solidFill>
                <a:latin typeface="Arial"/>
              </a:rPr>
              <a:t>Что получилось и что можно добавить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3035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15E59"/>
                </a:solidFill>
                <a:latin typeface="Arial"/>
              </a:defRPr>
            </a:pPr>
            <a:r>
              <a:t>Получилось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рабочий Flask-прототип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SQLite-хранилище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- 5 автоматических тестов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документация и руководство пользователя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46304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15E59"/>
                </a:solidFill>
                <a:latin typeface="Arial"/>
              </a:defRPr>
            </a:pPr>
            <a:r>
              <a:t>Планы развития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авторизация пользователей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теги и подборки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улучшенная статистика чтения</a:t>
            </a:r>
          </a:p>
          <a:p>
            <a:pPr>
              <a:defRPr sz="1400" b="0">
                <a:solidFill>
                  <a:srgbClr val="1F2937"/>
                </a:solidFill>
                <a:latin typeface="Arial"/>
              </a:defRPr>
            </a:pPr>
            <a:r>
              <a:t>- deployment на хостинг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